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media/media1.mp4" ContentType="video/unknown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2F3A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2F3A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2F3A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2F3A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2F3A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2F3A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2F3A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2F3A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2F3A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2B2F3A"/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rgbClr val="CDD6D8"/>
          </a:solidFill>
        </a:fill>
      </a:tcStyle>
    </a:wholeTbl>
    <a:band2H>
      <a:tcTxStyle b="def" i="def"/>
      <a:tcStyle>
        <a:tcBdr/>
        <a:fill>
          <a:solidFill>
            <a:srgbClr val="E7ECEC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2B2F3A"/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rgbClr val="DBE6E7"/>
          </a:solidFill>
        </a:fill>
      </a:tcStyle>
    </a:wholeTbl>
    <a:band2H>
      <a:tcTxStyle b="def" i="def"/>
      <a:tcStyle>
        <a:tcBdr/>
        <a:fill>
          <a:solidFill>
            <a:srgbClr val="EEF3F3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2B2F3A"/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rgbClr val="F5F7FA"/>
          </a:solidFill>
        </a:fill>
      </a:tcStyle>
    </a:wholeTbl>
    <a:band2H>
      <a:tcTxStyle b="def" i="def"/>
      <a:tcStyle>
        <a:tcBdr/>
        <a:fill>
          <a:solidFill>
            <a:srgbClr val="FAFBFC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2B2F3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chemeClr val="accent6">
              <a:hueOff val="-13200000"/>
              <a:satOff val="-31578"/>
              <a:lumOff val="745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2B2F3A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B2F3A"/>
              </a:solidFill>
              <a:prstDash val="solid"/>
              <a:round/>
            </a:ln>
          </a:top>
          <a:bottom>
            <a:ln w="25400" cap="flat">
              <a:solidFill>
                <a:srgbClr val="2B2F3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3200000"/>
              <a:satOff val="-31578"/>
              <a:lumOff val="745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B2F3A"/>
              </a:solidFill>
              <a:prstDash val="solid"/>
              <a:round/>
            </a:ln>
          </a:top>
          <a:bottom>
            <a:ln w="25400" cap="flat">
              <a:solidFill>
                <a:srgbClr val="2B2F3A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2B2F3A"/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rgbClr val="CBCCCD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rgbClr val="2B2F3A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rgbClr val="2B2F3A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6">
          <a:hueOff val="-13200000"/>
          <a:satOff val="-31578"/>
          <a:lumOff val="7450"/>
        </a:schemeClr>
      </a:tcTxStyle>
      <a:tcStyle>
        <a:tcBdr>
          <a:lef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6">
                  <a:hueOff val="-13200000"/>
                  <a:satOff val="-31578"/>
                  <a:lumOff val="7450"/>
                </a:schemeClr>
              </a:solidFill>
              <a:prstDash val="solid"/>
              <a:round/>
            </a:ln>
          </a:insideV>
        </a:tcBdr>
        <a:fill>
          <a:solidFill>
            <a:srgbClr val="2B2F3A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2B2F3A"/>
      </a:tcTxStyle>
      <a:tcStyle>
        <a:tcBdr>
          <a:left>
            <a:ln w="12700" cap="flat">
              <a:solidFill>
                <a:srgbClr val="2B2F3A"/>
              </a:solidFill>
              <a:prstDash val="solid"/>
              <a:round/>
            </a:ln>
          </a:left>
          <a:right>
            <a:ln w="12700" cap="flat">
              <a:solidFill>
                <a:srgbClr val="2B2F3A"/>
              </a:solidFill>
              <a:prstDash val="solid"/>
              <a:round/>
            </a:ln>
          </a:right>
          <a:top>
            <a:ln w="12700" cap="flat">
              <a:solidFill>
                <a:srgbClr val="2B2F3A"/>
              </a:solidFill>
              <a:prstDash val="solid"/>
              <a:round/>
            </a:ln>
          </a:top>
          <a:bottom>
            <a:ln w="12700" cap="flat">
              <a:solidFill>
                <a:srgbClr val="2B2F3A"/>
              </a:solidFill>
              <a:prstDash val="solid"/>
              <a:round/>
            </a:ln>
          </a:bottom>
          <a:insideH>
            <a:ln w="12700" cap="flat">
              <a:solidFill>
                <a:srgbClr val="2B2F3A"/>
              </a:solidFill>
              <a:prstDash val="solid"/>
              <a:round/>
            </a:ln>
          </a:insideH>
          <a:insideV>
            <a:ln w="12700" cap="flat">
              <a:solidFill>
                <a:srgbClr val="2B2F3A"/>
              </a:solidFill>
              <a:prstDash val="solid"/>
              <a:round/>
            </a:ln>
          </a:insideV>
        </a:tcBdr>
        <a:fill>
          <a:solidFill>
            <a:srgbClr val="2B2F3A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chemeClr val="accent6">
              <a:hueOff val="-13200000"/>
              <a:satOff val="-31578"/>
              <a:lumOff val="745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2B2F3A"/>
      </a:tcTxStyle>
      <a:tcStyle>
        <a:tcBdr>
          <a:left>
            <a:ln w="12700" cap="flat">
              <a:solidFill>
                <a:srgbClr val="2B2F3A"/>
              </a:solidFill>
              <a:prstDash val="solid"/>
              <a:round/>
            </a:ln>
          </a:left>
          <a:right>
            <a:ln w="12700" cap="flat">
              <a:solidFill>
                <a:srgbClr val="2B2F3A"/>
              </a:solidFill>
              <a:prstDash val="solid"/>
              <a:round/>
            </a:ln>
          </a:right>
          <a:top>
            <a:ln w="12700" cap="flat">
              <a:solidFill>
                <a:srgbClr val="2B2F3A"/>
              </a:solidFill>
              <a:prstDash val="solid"/>
              <a:round/>
            </a:ln>
          </a:top>
          <a:bottom>
            <a:ln w="12700" cap="flat">
              <a:solidFill>
                <a:srgbClr val="2B2F3A"/>
              </a:solidFill>
              <a:prstDash val="solid"/>
              <a:round/>
            </a:ln>
          </a:bottom>
          <a:insideH>
            <a:ln w="12700" cap="flat">
              <a:solidFill>
                <a:srgbClr val="2B2F3A"/>
              </a:solidFill>
              <a:prstDash val="solid"/>
              <a:round/>
            </a:ln>
          </a:insideH>
          <a:insideV>
            <a:ln w="12700" cap="flat">
              <a:solidFill>
                <a:srgbClr val="2B2F3A"/>
              </a:solidFill>
              <a:prstDash val="solid"/>
              <a:round/>
            </a:ln>
          </a:insideV>
        </a:tcBdr>
        <a:fill>
          <a:solidFill>
            <a:srgbClr val="2B2F3A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2B2F3A"/>
      </a:tcTxStyle>
      <a:tcStyle>
        <a:tcBdr>
          <a:left>
            <a:ln w="12700" cap="flat">
              <a:solidFill>
                <a:srgbClr val="2B2F3A"/>
              </a:solidFill>
              <a:prstDash val="solid"/>
              <a:round/>
            </a:ln>
          </a:left>
          <a:right>
            <a:ln w="12700" cap="flat">
              <a:solidFill>
                <a:srgbClr val="2B2F3A"/>
              </a:solidFill>
              <a:prstDash val="solid"/>
              <a:round/>
            </a:ln>
          </a:right>
          <a:top>
            <a:ln w="50800" cap="flat">
              <a:solidFill>
                <a:srgbClr val="2B2F3A"/>
              </a:solidFill>
              <a:prstDash val="solid"/>
              <a:round/>
            </a:ln>
          </a:top>
          <a:bottom>
            <a:ln w="12700" cap="flat">
              <a:solidFill>
                <a:srgbClr val="2B2F3A"/>
              </a:solidFill>
              <a:prstDash val="solid"/>
              <a:round/>
            </a:ln>
          </a:bottom>
          <a:insideH>
            <a:ln w="12700" cap="flat">
              <a:solidFill>
                <a:srgbClr val="2B2F3A"/>
              </a:solidFill>
              <a:prstDash val="solid"/>
              <a:round/>
            </a:ln>
          </a:insideH>
          <a:insideV>
            <a:ln w="12700" cap="flat">
              <a:solidFill>
                <a:srgbClr val="2B2F3A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2B2F3A"/>
      </a:tcTxStyle>
      <a:tcStyle>
        <a:tcBdr>
          <a:left>
            <a:ln w="12700" cap="flat">
              <a:solidFill>
                <a:srgbClr val="2B2F3A"/>
              </a:solidFill>
              <a:prstDash val="solid"/>
              <a:round/>
            </a:ln>
          </a:left>
          <a:right>
            <a:ln w="12700" cap="flat">
              <a:solidFill>
                <a:srgbClr val="2B2F3A"/>
              </a:solidFill>
              <a:prstDash val="solid"/>
              <a:round/>
            </a:ln>
          </a:right>
          <a:top>
            <a:ln w="12700" cap="flat">
              <a:solidFill>
                <a:srgbClr val="2B2F3A"/>
              </a:solidFill>
              <a:prstDash val="solid"/>
              <a:round/>
            </a:ln>
          </a:top>
          <a:bottom>
            <a:ln w="25400" cap="flat">
              <a:solidFill>
                <a:srgbClr val="2B2F3A"/>
              </a:solidFill>
              <a:prstDash val="solid"/>
              <a:round/>
            </a:ln>
          </a:bottom>
          <a:insideH>
            <a:ln w="12700" cap="flat">
              <a:solidFill>
                <a:srgbClr val="2B2F3A"/>
              </a:solidFill>
              <a:prstDash val="solid"/>
              <a:round/>
            </a:ln>
          </a:insideH>
          <a:insideV>
            <a:ln w="12700" cap="flat">
              <a:solidFill>
                <a:srgbClr val="2B2F3A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" name="Shape 3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-1" y="0"/>
            <a:ext cx="12188954" cy="10972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457200" y="6355079"/>
            <a:ext cx="914400" cy="3657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Click to add title"/>
          <p:cNvSpPr txBox="1"/>
          <p:nvPr>
            <p:ph type="title" hasCustomPrompt="1"/>
          </p:nvPr>
        </p:nvSpPr>
        <p:spPr>
          <a:xfrm>
            <a:off x="685800" y="320040"/>
            <a:ext cx="9875520" cy="82296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3000">
                <a:solidFill>
                  <a:schemeClr val="accent2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xfrm>
            <a:off x="11550357" y="6355079"/>
            <a:ext cx="245404" cy="22698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bg>
      <p:bgPr>
        <a:solidFill>
          <a:srgbClr val="F7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-1" y="0"/>
            <a:ext cx="12188954" cy="10972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1"/>
          <p:cNvSpPr/>
          <p:nvPr/>
        </p:nvSpPr>
        <p:spPr>
          <a:xfrm>
            <a:off x="457200" y="6355079"/>
            <a:ext cx="914400" cy="3657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Click to add title"/>
          <p:cNvSpPr txBox="1"/>
          <p:nvPr>
            <p:ph type="title" hasCustomPrompt="1"/>
          </p:nvPr>
        </p:nvSpPr>
        <p:spPr>
          <a:xfrm>
            <a:off x="685800" y="548640"/>
            <a:ext cx="10515600" cy="1554481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 algn="l">
              <a:defRPr b="1" sz="3800">
                <a:solidFill>
                  <a:schemeClr val="accent2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chemeClr val="accent6">
            <a:hueOff val="-13200000"/>
            <a:satOff val="-31578"/>
            <a:lumOff val="745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2B2F3A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3" Type="http://schemas.microsoft.com/office/2007/relationships/media" Target="../media/media1.mp4"/><Relationship Id="rId4" Type="http://schemas.openxmlformats.org/officeDocument/2006/relationships/image" Target="../media/image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pPr/>
            <a:r>
              <a:t>AI-Based Toxic Content and Potential Cyberbullying Detection</a:t>
            </a:r>
          </a:p>
        </p:txBody>
      </p:sp>
      <p:sp>
        <p:nvSpPr>
          <p:cNvPr id="41" name="Shape 1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3" name="Text 3"/>
          <p:cNvSpPr txBox="1"/>
          <p:nvPr/>
        </p:nvSpPr>
        <p:spPr>
          <a:xfrm>
            <a:off x="685799" y="2103120"/>
            <a:ext cx="10789922" cy="1262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800"/>
              </a:spcBef>
            </a:pPr>
            <a:r>
              <a:t>Machine Learning Based Text Classification</a:t>
            </a:r>
          </a:p>
          <a:p>
            <a:pPr>
              <a:spcBef>
                <a:spcPts val="800"/>
              </a:spcBef>
            </a:pPr>
            <a:r>
              <a:t>Based on the research paper: Cyberbullying Detection and Recognition with Type Determination Based on Machine Learning</a:t>
            </a:r>
          </a:p>
          <a:p>
            <a:pPr/>
            <a:r>
              <a:t>Models: SVM, Logistic Regression, Naive Bayes, Random Forest</a:t>
            </a:r>
          </a:p>
        </p:txBody>
      </p:sp>
      <p:sp>
        <p:nvSpPr>
          <p:cNvPr id="44" name="Text 5"/>
          <p:cNvSpPr txBox="1"/>
          <p:nvPr/>
        </p:nvSpPr>
        <p:spPr>
          <a:xfrm>
            <a:off x="-1182109" y="3864110"/>
            <a:ext cx="5120642" cy="227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" tIns="2540" rIns="2540" bIns="2540" anchor="ctr">
            <a:spAutoFit/>
          </a:bodyPr>
          <a:lstStyle>
            <a:lvl1pPr algn="ctr">
              <a:defRPr i="1" sz="1600">
                <a:solidFill>
                  <a:srgbClr val="7A8799"/>
                </a:solidFill>
              </a:defRPr>
            </a:lvl1pPr>
          </a:lstStyle>
          <a:p>
            <a:pPr/>
            <a:r>
              <a:t>Project guide:</a:t>
            </a:r>
          </a:p>
        </p:txBody>
      </p:sp>
      <p:sp>
        <p:nvSpPr>
          <p:cNvPr id="45" name="Text 7"/>
          <p:cNvSpPr txBox="1"/>
          <p:nvPr/>
        </p:nvSpPr>
        <p:spPr>
          <a:xfrm>
            <a:off x="4517654" y="3791230"/>
            <a:ext cx="5120641" cy="227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" tIns="2540" rIns="2540" bIns="2540" anchor="ctr">
            <a:spAutoFit/>
          </a:bodyPr>
          <a:lstStyle>
            <a:lvl1pPr algn="ctr">
              <a:defRPr i="1" sz="1600">
                <a:solidFill>
                  <a:srgbClr val="7A8799"/>
                </a:solidFill>
              </a:defRPr>
            </a:lvl1pPr>
          </a:lstStyle>
          <a:p>
            <a:pPr/>
            <a:r>
              <a:t>Team members:</a:t>
            </a:r>
          </a:p>
        </p:txBody>
      </p:sp>
      <p:graphicFrame>
        <p:nvGraphicFramePr>
          <p:cNvPr id="46" name="Table 9"/>
          <p:cNvGraphicFramePr/>
          <p:nvPr/>
        </p:nvGraphicFramePr>
        <p:xfrm>
          <a:off x="6385562" y="4120541"/>
          <a:ext cx="5449882" cy="191794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16626"/>
                <a:gridCol w="1816626"/>
                <a:gridCol w="1816626"/>
              </a:tblGrid>
              <a:tr h="31092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S. No.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Name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Registration Number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</a:tr>
              <a:tr h="31092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SARAH SIDDIQUI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25BCE10451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</a:tr>
              <a:tr h="31092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MUDRIKA SHARMA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25BCE10452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</a:tr>
              <a:tr h="31092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3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K KUSHAL VARMA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25BCE10447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</a:tr>
              <a:tr h="36333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SUMEDHA KASHMIRA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25BCE10764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</a:tr>
              <a:tr h="31092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5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NAVRUP KAUR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000">
                          <a:solidFill>
                            <a:srgbClr val="2B2F3A"/>
                          </a:solidFill>
                        </a:rPr>
                        <a:t>25BCE10350</a:t>
                      </a:r>
                    </a:p>
                  </a:txBody>
                  <a:tcPr marL="45720" marR="45720" marT="45720" marB="45720" anchor="ctr" anchorCtr="0" horzOverflow="overflow">
                    <a:solidFill>
                      <a:srgbClr val="E7ECEC"/>
                    </a:solidFill>
                  </a:tcPr>
                </a:tc>
              </a:tr>
            </a:tbl>
          </a:graphicData>
        </a:graphic>
      </p:graphicFrame>
      <p:sp>
        <p:nvSpPr>
          <p:cNvPr id="47" name="TextBox 13"/>
          <p:cNvSpPr txBox="1"/>
          <p:nvPr/>
        </p:nvSpPr>
        <p:spPr>
          <a:xfrm>
            <a:off x="712033" y="4130602"/>
            <a:ext cx="4099492" cy="88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 Vikas Panthi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Program Chair, CSE-Core, SCOPEVIT Bhopal University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Introduction</a:t>
            </a:r>
          </a:p>
        </p:txBody>
      </p:sp>
      <p:sp>
        <p:nvSpPr>
          <p:cNvPr id="50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2" name="TextBox 6"/>
          <p:cNvSpPr txBox="1"/>
          <p:nvPr/>
        </p:nvSpPr>
        <p:spPr>
          <a:xfrm>
            <a:off x="704203" y="1125746"/>
            <a:ext cx="10756277" cy="522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Social media platforms like Twitter generate huge volumes of text every day, and some of it is hateful, toxic or abusive.</a:t>
            </a:r>
          </a:p>
          <a:p>
            <a:pPr marL="2857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Toxic content and cyberbullying can harm mental health, so detecting it early is important.</a:t>
            </a:r>
          </a:p>
          <a:p>
            <a:pPr marL="2857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Manually checking so many tweets is slow, so automated machine learning detection is needed.</a:t>
            </a:r>
          </a:p>
          <a:p>
            <a:pPr marL="2857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project classifies tweets as </a:t>
            </a:r>
            <a:r>
              <a:rPr b="1"/>
              <a:t>Hatred / Toxic</a:t>
            </a:r>
            <a:r>
              <a:t> or </a:t>
            </a:r>
            <a:r>
              <a:rPr b="1"/>
              <a:t>Non-Hatred</a:t>
            </a:r>
            <a:r>
              <a:t> using text classification.</a:t>
            </a:r>
          </a:p>
          <a:p>
            <a:pPr marL="2857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Tweets are cleaned, converted to numbers with TF-IDF, and classified with SVM, Logistic Regression, Naive Bayes and Random Forest.</a:t>
            </a:r>
          </a:p>
          <a:p>
            <a:pPr marL="2857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Two combined models (SVM + LR and NB + LR) are built and compared with the individual models.</a:t>
            </a:r>
          </a:p>
          <a:p>
            <a:pPr marL="2857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work is based on the paper </a:t>
            </a:r>
            <a:r>
              <a:rPr i="1"/>
              <a:t>Cyberbullying Detection and Recognition with Type Determination Based on Machine Learning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Existing Work with Limitations</a:t>
            </a:r>
          </a:p>
        </p:txBody>
      </p:sp>
      <p:sp>
        <p:nvSpPr>
          <p:cNvPr id="55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7" name="Text 3"/>
          <p:cNvSpPr txBox="1"/>
          <p:nvPr/>
        </p:nvSpPr>
        <p:spPr>
          <a:xfrm>
            <a:off x="685799" y="1716960"/>
            <a:ext cx="1083564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/>
            </a:lvl1pPr>
          </a:lstStyle>
          <a:p>
            <a:pPr/>
            <a:r>
              <a:t>Base paper: Cyberbullying Detection and Recognition with Type Determination Based on Machine Learning</a:t>
            </a:r>
          </a:p>
        </p:txBody>
      </p:sp>
      <p:sp>
        <p:nvSpPr>
          <p:cNvPr id="58" name="Slide Number Placeholder 0"/>
          <p:cNvSpPr txBox="1"/>
          <p:nvPr>
            <p:ph type="sldNum" sz="quarter" idx="4294967295"/>
          </p:nvPr>
        </p:nvSpPr>
        <p:spPr>
          <a:xfrm>
            <a:off x="11620989" y="6355079"/>
            <a:ext cx="174772" cy="22698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9" name="TextBox 7"/>
          <p:cNvSpPr txBox="1"/>
          <p:nvPr/>
        </p:nvSpPr>
        <p:spPr>
          <a:xfrm>
            <a:off x="612044" y="3588587"/>
            <a:ext cx="10023032" cy="1107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base paper uses machine learning classifiers for cyberbullying detection.</a:t>
            </a:r>
          </a:p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reports SVM accuracy of </a:t>
            </a:r>
            <a:r>
              <a:rPr b="1"/>
              <a:t>94.9%</a:t>
            </a:r>
            <a:r>
              <a:t> and Logistic Regression accuracy of </a:t>
            </a:r>
            <a:r>
              <a:rPr b="1"/>
              <a:t>95%</a:t>
            </a:r>
            <a:r>
              <a:t>.</a:t>
            </a:r>
          </a:p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Each model is evaluated on its own.</a:t>
            </a:r>
          </a:p>
        </p:txBody>
      </p:sp>
      <p:pic>
        <p:nvPicPr>
          <p:cNvPr id="60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0" y="0"/>
            <a:ext cx="12192001" cy="683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Proposed Work and Methodology</a:t>
            </a:r>
          </a:p>
        </p:txBody>
      </p:sp>
      <p:sp>
        <p:nvSpPr>
          <p:cNvPr id="63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5" name="Text 3"/>
          <p:cNvSpPr txBox="1"/>
          <p:nvPr/>
        </p:nvSpPr>
        <p:spPr>
          <a:xfrm>
            <a:off x="685799" y="1485390"/>
            <a:ext cx="10835642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/>
            </a:lvl1pPr>
          </a:lstStyle>
          <a:p>
            <a:pPr/>
            <a:r>
              <a:t>Detect hateful/toxic content in tweets using machine learning.</a:t>
            </a:r>
          </a:p>
        </p:txBody>
      </p:sp>
      <p:sp>
        <p:nvSpPr>
          <p:cNvPr id="66" name="Text 4"/>
          <p:cNvSpPr txBox="1"/>
          <p:nvPr/>
        </p:nvSpPr>
        <p:spPr>
          <a:xfrm>
            <a:off x="685799" y="2194560"/>
            <a:ext cx="10835642" cy="1121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AutoNum type="arabicPeriod" startAt="1"/>
              <a:defRPr sz="2000"/>
            </a:pPr>
            <a:r>
              <a:t>Follow the general machine-learning approach described in the research paper.</a:t>
            </a:r>
          </a:p>
          <a:p>
            <a:pPr marL="342900" indent="-342900">
              <a:spcBef>
                <a:spcPts val="1000"/>
              </a:spcBef>
              <a:buSzPct val="100000"/>
              <a:buAutoNum type="arabicPeriod" startAt="1"/>
              <a:defRPr sz="2000"/>
            </a:pPr>
            <a:r>
              <a:t>Compare individual models and develop two combined models.</a:t>
            </a:r>
          </a:p>
          <a:p>
            <a:pPr marL="342900" indent="-342900">
              <a:spcBef>
                <a:spcPts val="1000"/>
              </a:spcBef>
              <a:buSzPct val="100000"/>
              <a:buAutoNum type="arabicPeriod" startAt="1"/>
              <a:defRPr sz="2000"/>
            </a:pPr>
            <a:r>
              <a:t>Final combined models: SVM + Logistic Regression and Naive Bayes + Logistic Regression.</a:t>
            </a:r>
          </a:p>
        </p:txBody>
      </p:sp>
      <p:sp>
        <p:nvSpPr>
          <p:cNvPr id="67" name="Shape 5"/>
          <p:cNvSpPr/>
          <p:nvPr/>
        </p:nvSpPr>
        <p:spPr>
          <a:xfrm>
            <a:off x="685800" y="4572000"/>
            <a:ext cx="10835641" cy="1280161"/>
          </a:xfrm>
          <a:prstGeom prst="roundRect">
            <a:avLst>
              <a:gd name="adj" fmla="val 5714"/>
            </a:avLst>
          </a:prstGeom>
          <a:solidFill>
            <a:schemeClr val="accent6">
              <a:hueOff val="-13200000"/>
              <a:satOff val="-31578"/>
              <a:lumOff val="7450"/>
            </a:schemeClr>
          </a:solidFill>
          <a:ln w="127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6"/>
          <p:cNvSpPr txBox="1"/>
          <p:nvPr/>
        </p:nvSpPr>
        <p:spPr>
          <a:xfrm>
            <a:off x="914399" y="5070184"/>
            <a:ext cx="1037844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solidFill>
                  <a:schemeClr val="accent2"/>
                </a:solidFill>
              </a:defRPr>
            </a:pPr>
            <a:r>
              <a:t>Methodology:  </a:t>
            </a:r>
            <a:r>
              <a:rPr b="0">
                <a:solidFill>
                  <a:srgbClr val="2B2F3A"/>
                </a:solidFill>
              </a:rPr>
              <a:t>Preprocessing → TF-IDF → ML models → Evaluation → Model combination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Novelty of the Project</a:t>
            </a:r>
          </a:p>
        </p:txBody>
      </p:sp>
      <p:sp>
        <p:nvSpPr>
          <p:cNvPr id="71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73" name="TextBox 6"/>
          <p:cNvSpPr txBox="1"/>
          <p:nvPr/>
        </p:nvSpPr>
        <p:spPr>
          <a:xfrm>
            <a:off x="708228" y="1321339"/>
            <a:ext cx="9872070" cy="2125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Instead of relying on one classifier, the project </a:t>
            </a:r>
            <a:r>
              <a:rPr b="1"/>
              <a:t>combines two models</a:t>
            </a:r>
            <a:r>
              <a:t> in the final prediction: </a:t>
            </a:r>
            <a:r>
              <a:rPr b="1"/>
              <a:t>SVM + Logistic Regression</a:t>
            </a:r>
            <a:r>
              <a:t> and </a:t>
            </a:r>
            <a:r>
              <a:rPr b="1"/>
              <a:t>Naive Bayes + Logistic Regression</a:t>
            </a:r>
            <a:r>
              <a:t>.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two combined models are compared on accuracy and on technical measures: prediction time, learned parameters, model size, non-zero values and training time.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comparison shows the trade-offs: SVM + LR is faster and smaller, while NB + LR trains faster.</a:t>
            </a:r>
          </a:p>
          <a:p>
            <a:pPr marL="285750" indent="-285750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Both combined models use the same TF-IDF features, so the comparison is fair.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Real Time Usage</a:t>
            </a:r>
          </a:p>
        </p:txBody>
      </p:sp>
      <p:sp>
        <p:nvSpPr>
          <p:cNvPr id="76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78" name="TextBox 7"/>
          <p:cNvSpPr txBox="1"/>
          <p:nvPr/>
        </p:nvSpPr>
        <p:spPr>
          <a:xfrm>
            <a:off x="666821" y="1142999"/>
            <a:ext cx="10139489" cy="350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trained model can classify a new tweet or comment instantly. The predict_svm() and predict_logistic() functions clean the text, convert it with TF-IDF, and return the label.</a:t>
            </a:r>
          </a:p>
          <a:p>
            <a:pPr marL="342900" indent="-34290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can be used in: </a:t>
            </a:r>
          </a:p>
          <a:p>
            <a:pPr lvl="1" marL="7429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Social media platforms to flag or filter abusive posts</a:t>
            </a:r>
          </a:p>
          <a:p>
            <a:pPr lvl="1" marL="7429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Comment moderation on forums, YouTube and news sites</a:t>
            </a:r>
          </a:p>
          <a:p>
            <a:pPr lvl="1" marL="7429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School and parental monitoring tools for cyberbullying alerts</a:t>
            </a:r>
          </a:p>
          <a:p>
            <a:pPr lvl="1" marL="7429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Online gaming and chat apps for toxic message detection</a:t>
            </a:r>
          </a:p>
          <a:p>
            <a:pPr marL="342900" indent="-34290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Prediction is fast (about 0.003 s for SVM + LR on the test set), which suits live use.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Hardware &amp; Software Requirements</a:t>
            </a:r>
          </a:p>
        </p:txBody>
      </p:sp>
      <p:sp>
        <p:nvSpPr>
          <p:cNvPr id="81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83" name="Text 3"/>
          <p:cNvSpPr txBox="1"/>
          <p:nvPr/>
        </p:nvSpPr>
        <p:spPr>
          <a:xfrm>
            <a:off x="685799" y="1389724"/>
            <a:ext cx="530352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chemeClr val="accent2"/>
                </a:solidFill>
              </a:defRPr>
            </a:lvl1pPr>
          </a:lstStyle>
          <a:p>
            <a:pPr/>
            <a:r>
              <a:t>Software</a:t>
            </a:r>
          </a:p>
        </p:txBody>
      </p:sp>
      <p:sp>
        <p:nvSpPr>
          <p:cNvPr id="84" name="TextBox 10"/>
          <p:cNvSpPr txBox="1"/>
          <p:nvPr/>
        </p:nvSpPr>
        <p:spPr>
          <a:xfrm>
            <a:off x="617219" y="1447767"/>
            <a:ext cx="6003123" cy="3284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 marL="342900" indent="-342900">
              <a:buSzPct val="100000"/>
              <a:buFont typeface="Arial"/>
              <a:buChar char="•"/>
            </a:pPr>
            <a:r>
              <a:t>Language: Python 3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Platform: Google Colab (used to write, run and test the code)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Libraries: </a:t>
            </a:r>
          </a:p>
          <a:p>
            <a:pPr lvl="1" marL="742950" indent="-285750">
              <a:buSzPct val="100000"/>
              <a:buFont typeface="Arial"/>
              <a:buChar char="•"/>
            </a:pPr>
            <a:r>
              <a:t>pandas and NumPy for data handling</a:t>
            </a:r>
          </a:p>
          <a:p>
            <a:pPr lvl="1" marL="742950" indent="-285750">
              <a:buSzPct val="100000"/>
              <a:buFont typeface="Arial"/>
              <a:buChar char="•"/>
            </a:pPr>
            <a:r>
              <a:t>NLTK for stopwords and the Porter stemmer</a:t>
            </a:r>
          </a:p>
          <a:p>
            <a:pPr lvl="1" marL="742950" indent="-285750">
              <a:buSzPct val="100000"/>
              <a:buFont typeface="Arial"/>
              <a:buChar char="•"/>
            </a:pPr>
            <a:r>
              <a:t>scikit-learn for TF-IDF, SVM, Logistic Regression, Naive Bayes, Random Forest and metrics</a:t>
            </a:r>
          </a:p>
          <a:p>
            <a:pPr lvl="1" marL="742950" indent="-285750">
              <a:buSzPct val="100000"/>
              <a:buFont typeface="Arial"/>
              <a:buChar char="•"/>
            </a:pPr>
            <a:r>
              <a:t>Matplotlib for plots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Dataset: labelled tweets CSV (train.csv, 31,962 tweets)</a:t>
            </a:r>
          </a:p>
          <a:p>
            <a:pPr marL="342900" indent="-342900">
              <a:buSzPct val="100000"/>
              <a:buFont typeface="Arial"/>
              <a:buChar char="•"/>
            </a:pPr>
            <a:r>
              <a:t>Browser: Google Chrome</a:t>
            </a:r>
          </a:p>
        </p:txBody>
      </p:sp>
      <p:sp>
        <p:nvSpPr>
          <p:cNvPr id="85" name="Text 3"/>
          <p:cNvSpPr txBox="1"/>
          <p:nvPr/>
        </p:nvSpPr>
        <p:spPr>
          <a:xfrm>
            <a:off x="685799" y="5062596"/>
            <a:ext cx="530352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chemeClr val="accent2"/>
                </a:solidFill>
              </a:defRPr>
            </a:lvl1pPr>
          </a:lstStyle>
          <a:p>
            <a:pPr/>
            <a:r>
              <a:t>Hardware</a:t>
            </a:r>
          </a:p>
        </p:txBody>
      </p:sp>
      <p:sp>
        <p:nvSpPr>
          <p:cNvPr id="86" name="TextBox 13"/>
          <p:cNvSpPr txBox="1"/>
          <p:nvPr/>
        </p:nvSpPr>
        <p:spPr>
          <a:xfrm>
            <a:off x="625846" y="5410232"/>
            <a:ext cx="395428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Laptop/computer with internet access.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Overall System Architecture Diagram</a:t>
            </a:r>
          </a:p>
        </p:txBody>
      </p:sp>
      <p:sp>
        <p:nvSpPr>
          <p:cNvPr id="89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91" name="Labelled Dataset"/>
          <p:cNvSpPr/>
          <p:nvPr/>
        </p:nvSpPr>
        <p:spPr>
          <a:xfrm>
            <a:off x="653795" y="2103120"/>
            <a:ext cx="1600201" cy="2377441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4"/>
          <p:cNvSpPr txBox="1"/>
          <p:nvPr/>
        </p:nvSpPr>
        <p:spPr>
          <a:xfrm>
            <a:off x="745236" y="2938733"/>
            <a:ext cx="1417320" cy="706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800"/>
              </a:spcBef>
              <a:defRPr b="1" sz="15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Labelled Dataset</a:t>
            </a:r>
          </a:p>
          <a:p>
            <a:pPr algn="ctr">
              <a:defRPr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31,962 tweets</a:t>
            </a:r>
          </a:p>
        </p:txBody>
      </p:sp>
      <p:sp>
        <p:nvSpPr>
          <p:cNvPr id="93" name="Shape 5"/>
          <p:cNvSpPr/>
          <p:nvPr/>
        </p:nvSpPr>
        <p:spPr>
          <a:xfrm>
            <a:off x="2272283" y="3291840"/>
            <a:ext cx="219457" cy="1"/>
          </a:xfrm>
          <a:prstGeom prst="line">
            <a:avLst/>
          </a:prstGeom>
          <a:ln w="25400">
            <a:solidFill>
              <a:srgbClr val="2B2F3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Preprocessing"/>
          <p:cNvSpPr/>
          <p:nvPr/>
        </p:nvSpPr>
        <p:spPr>
          <a:xfrm>
            <a:off x="2510027" y="2103120"/>
            <a:ext cx="1600201" cy="2377441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7"/>
          <p:cNvSpPr txBox="1"/>
          <p:nvPr/>
        </p:nvSpPr>
        <p:spPr>
          <a:xfrm>
            <a:off x="2601467" y="2868883"/>
            <a:ext cx="1417321" cy="84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800"/>
              </a:spcBef>
              <a:defRPr b="1" sz="15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Preprocessing</a:t>
            </a:r>
          </a:p>
          <a:p>
            <a:pPr algn="ctr">
              <a:defRPr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Clean text, remove stopwords, stemming</a:t>
            </a:r>
          </a:p>
        </p:txBody>
      </p:sp>
      <p:sp>
        <p:nvSpPr>
          <p:cNvPr id="96" name="Shape 8"/>
          <p:cNvSpPr/>
          <p:nvPr/>
        </p:nvSpPr>
        <p:spPr>
          <a:xfrm>
            <a:off x="4128515" y="3291840"/>
            <a:ext cx="219457" cy="1"/>
          </a:xfrm>
          <a:prstGeom prst="line">
            <a:avLst/>
          </a:prstGeom>
          <a:ln w="25400">
            <a:solidFill>
              <a:srgbClr val="2B2F3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F-IDF"/>
          <p:cNvSpPr/>
          <p:nvPr/>
        </p:nvSpPr>
        <p:spPr>
          <a:xfrm>
            <a:off x="4366259" y="2103120"/>
            <a:ext cx="1600201" cy="2377441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10"/>
          <p:cNvSpPr txBox="1"/>
          <p:nvPr/>
        </p:nvSpPr>
        <p:spPr>
          <a:xfrm>
            <a:off x="4457700" y="3046683"/>
            <a:ext cx="1417320" cy="490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800"/>
              </a:spcBef>
              <a:defRPr b="1" sz="15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TF-IDF</a:t>
            </a:r>
          </a:p>
          <a:p>
            <a:pPr algn="ctr">
              <a:defRPr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26,409 features</a:t>
            </a:r>
          </a:p>
        </p:txBody>
      </p:sp>
      <p:sp>
        <p:nvSpPr>
          <p:cNvPr id="99" name="Shape 11"/>
          <p:cNvSpPr/>
          <p:nvPr/>
        </p:nvSpPr>
        <p:spPr>
          <a:xfrm>
            <a:off x="5984747" y="3291840"/>
            <a:ext cx="219457" cy="1"/>
          </a:xfrm>
          <a:prstGeom prst="line">
            <a:avLst/>
          </a:prstGeom>
          <a:ln w="25400">
            <a:solidFill>
              <a:srgbClr val="2B2F3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ML Models"/>
          <p:cNvSpPr/>
          <p:nvPr/>
        </p:nvSpPr>
        <p:spPr>
          <a:xfrm>
            <a:off x="6222491" y="2103120"/>
            <a:ext cx="1600201" cy="2377441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13"/>
          <p:cNvSpPr txBox="1"/>
          <p:nvPr/>
        </p:nvSpPr>
        <p:spPr>
          <a:xfrm>
            <a:off x="6313932" y="2779983"/>
            <a:ext cx="1417321" cy="1023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800"/>
              </a:spcBef>
              <a:defRPr b="1" sz="15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ML Models</a:t>
            </a:r>
          </a:p>
          <a:p>
            <a:pPr algn="ctr">
              <a:defRPr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SVM, Logistic Regression, Naive Bayes, Random Forest</a:t>
            </a:r>
          </a:p>
        </p:txBody>
      </p:sp>
      <p:sp>
        <p:nvSpPr>
          <p:cNvPr id="102" name="Shape 14"/>
          <p:cNvSpPr/>
          <p:nvPr/>
        </p:nvSpPr>
        <p:spPr>
          <a:xfrm>
            <a:off x="7840980" y="3291840"/>
            <a:ext cx="219457" cy="1"/>
          </a:xfrm>
          <a:prstGeom prst="line">
            <a:avLst/>
          </a:prstGeom>
          <a:ln w="25400">
            <a:solidFill>
              <a:srgbClr val="2B2F3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Evaluation"/>
          <p:cNvSpPr/>
          <p:nvPr/>
        </p:nvSpPr>
        <p:spPr>
          <a:xfrm>
            <a:off x="8078723" y="2103120"/>
            <a:ext cx="1600201" cy="2377441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16"/>
          <p:cNvSpPr txBox="1"/>
          <p:nvPr/>
        </p:nvSpPr>
        <p:spPr>
          <a:xfrm>
            <a:off x="8170164" y="2957783"/>
            <a:ext cx="1417321" cy="668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800"/>
              </a:spcBef>
              <a:defRPr b="1" sz="15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Evaluation</a:t>
            </a:r>
          </a:p>
          <a:p>
            <a:pPr algn="ctr">
              <a:defRPr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Accuracy, Precision, Recall, F1</a:t>
            </a:r>
          </a:p>
        </p:txBody>
      </p:sp>
      <p:sp>
        <p:nvSpPr>
          <p:cNvPr id="105" name="Shape 17"/>
          <p:cNvSpPr/>
          <p:nvPr/>
        </p:nvSpPr>
        <p:spPr>
          <a:xfrm>
            <a:off x="9697211" y="3291840"/>
            <a:ext cx="219457" cy="1"/>
          </a:xfrm>
          <a:prstGeom prst="line">
            <a:avLst/>
          </a:prstGeom>
          <a:ln w="25400">
            <a:solidFill>
              <a:srgbClr val="2B2F3A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Combined Models"/>
          <p:cNvSpPr/>
          <p:nvPr/>
        </p:nvSpPr>
        <p:spPr>
          <a:xfrm>
            <a:off x="9934956" y="2103120"/>
            <a:ext cx="1600201" cy="2377441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9"/>
          <p:cNvSpPr txBox="1"/>
          <p:nvPr/>
        </p:nvSpPr>
        <p:spPr>
          <a:xfrm>
            <a:off x="10026395" y="2849833"/>
            <a:ext cx="1417321" cy="884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800"/>
              </a:spcBef>
              <a:defRPr b="1" sz="15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Combined Models</a:t>
            </a:r>
          </a:p>
          <a:p>
            <a:pPr algn="ctr">
              <a:defRPr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SVM + LR</a:t>
            </a:r>
            <a:endParaRPr sz="1500"/>
          </a:p>
          <a:p>
            <a:pPr algn="ctr">
              <a:defRPr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pPr>
            <a:r>
              <a:t>NB + LR</a:t>
            </a:r>
          </a:p>
        </p:txBody>
      </p:sp>
      <p:sp>
        <p:nvSpPr>
          <p:cNvPr id="108" name="Text 20"/>
          <p:cNvSpPr txBox="1"/>
          <p:nvPr/>
        </p:nvSpPr>
        <p:spPr>
          <a:xfrm>
            <a:off x="685799" y="5036749"/>
            <a:ext cx="1083564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/>
          </a:lstStyle>
          <a:p>
            <a:pPr/>
            <a:r>
              <a:t>Input: tweet text   →   Output: Hatred / Toxic or Non-Hatred</a:t>
            </a:r>
          </a:p>
        </p:txBody>
      </p:sp>
      <p:sp>
        <p:nvSpPr>
          <p:cNvPr id="109" name="Text 21"/>
          <p:cNvSpPr txBox="1"/>
          <p:nvPr/>
        </p:nvSpPr>
        <p:spPr>
          <a:xfrm>
            <a:off x="685799" y="5524868"/>
            <a:ext cx="1083564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5A6577"/>
                </a:solidFill>
              </a:defRPr>
            </a:lvl1pPr>
          </a:lstStyle>
          <a:p>
            <a:pPr/>
            <a:r>
              <a:t>Data split: 70% training (22,373 tweets) | 30% testing (9,589 tweets)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Literature Review</a:t>
            </a:r>
          </a:p>
        </p:txBody>
      </p:sp>
      <p:sp>
        <p:nvSpPr>
          <p:cNvPr id="112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09</a:t>
            </a:r>
          </a:p>
        </p:txBody>
      </p:sp>
      <p:graphicFrame>
        <p:nvGraphicFramePr>
          <p:cNvPr id="114" name="Table 7"/>
          <p:cNvGraphicFramePr/>
          <p:nvPr/>
        </p:nvGraphicFramePr>
        <p:xfrm>
          <a:off x="685796" y="1075127"/>
          <a:ext cx="10511290" cy="435133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94636"/>
                <a:gridCol w="2523816"/>
                <a:gridCol w="2617472"/>
                <a:gridCol w="2673107"/>
                <a:gridCol w="2102258"/>
              </a:tblGrid>
              <a:tr h="298621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#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Paper / Authors (Year)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Method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Key Finding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Limitation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</a:tr>
              <a:tr h="1066504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1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Cyberbullying Detection and Recognition with Type Determination Based on Machine Learning (base paper)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TF-IDF features with SVM and Logistic Regression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SVM: 94.9% accuracy, Logistic Regression: 95% accuracy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Models are used individually and not combined, and accuracy is the main metric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</a:tr>
              <a:tr h="682563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2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Reynolds et al. (2011), Using Machine Learning to Detect Cyberbullying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Language-based features with ML classifiers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Showed that cyberbullying can be detected automatically from text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Relies on a limited set of offensive words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</a:tr>
              <a:tr h="682563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3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Dinakar et al. (2011), Modeling the Detection of Textual Cyberbullying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Separate classifiers for topics such as appearance and intelligence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Topic-specific classifiers worked better than one general classifier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Needs a labelled dataset for each topic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</a:tr>
              <a:tr h="682563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4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Waseem &amp; Hovy (2016), Hateful Symbols or Hateful People?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Character n-gram features with Logistic Regression on tweets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Character n-grams gave strong results for hate speech detection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Annotation is subjective and the dataset is small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</a:tr>
              <a:tr h="938524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5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Davidson et al. (2017), Automated Hate Speech Detection and the Problem of Offensive Language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TF-IDF with Logistic Regression and SVM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Hate speech is hard to tell apart from merely offensive language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100">
                          <a:solidFill>
                            <a:srgbClr val="2B2F3A"/>
                          </a:solidFill>
                        </a:rPr>
                        <a:t>Misclassifies offensive but non-hateful tweets</a:t>
                      </a:r>
                    </a:p>
                  </a:txBody>
                  <a:tcPr marL="21330" marR="21330" marT="21330" marB="21330" anchor="ctr" anchorCtr="0" horzOverflow="overflow">
                    <a:solidFill>
                      <a:srgbClr val="E7EC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Module Description (1/2)</a:t>
            </a:r>
          </a:p>
        </p:txBody>
      </p:sp>
      <p:sp>
        <p:nvSpPr>
          <p:cNvPr id="117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19" name="Dataset card"/>
          <p:cNvSpPr/>
          <p:nvPr/>
        </p:nvSpPr>
        <p:spPr>
          <a:xfrm>
            <a:off x="685800" y="1371600"/>
            <a:ext cx="3429000" cy="4663441"/>
          </a:xfrm>
          <a:prstGeom prst="roundRect">
            <a:avLst>
              <a:gd name="adj" fmla="val 2133"/>
            </a:avLst>
          </a:prstGeom>
          <a:solidFill>
            <a:schemeClr val="accent6">
              <a:hueOff val="-13200000"/>
              <a:satOff val="-31578"/>
              <a:lumOff val="7450"/>
            </a:schemeClr>
          </a:solidFill>
          <a:ln w="127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4"/>
          <p:cNvSpPr/>
          <p:nvPr/>
        </p:nvSpPr>
        <p:spPr>
          <a:xfrm>
            <a:off x="914400" y="1600200"/>
            <a:ext cx="548641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5"/>
          <p:cNvSpPr txBox="1"/>
          <p:nvPr/>
        </p:nvSpPr>
        <p:spPr>
          <a:xfrm>
            <a:off x="914400" y="1836349"/>
            <a:ext cx="297180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122" name="Text 6"/>
          <p:cNvSpPr txBox="1"/>
          <p:nvPr/>
        </p:nvSpPr>
        <p:spPr>
          <a:xfrm>
            <a:off x="914400" y="2331720"/>
            <a:ext cx="2971800" cy="2787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Labelled dataset: 31,962 tweets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70% training data: 22,373 tweets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30% testing data: 9,589 tweets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Test set kept unseen during training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Predictions evaluated against actual test labels</a:t>
            </a:r>
          </a:p>
        </p:txBody>
      </p:sp>
      <p:sp>
        <p:nvSpPr>
          <p:cNvPr id="123" name="Text Preprocessing card"/>
          <p:cNvSpPr/>
          <p:nvPr/>
        </p:nvSpPr>
        <p:spPr>
          <a:xfrm>
            <a:off x="4389120" y="1371600"/>
            <a:ext cx="3429001" cy="4663441"/>
          </a:xfrm>
          <a:prstGeom prst="roundRect">
            <a:avLst>
              <a:gd name="adj" fmla="val 2133"/>
            </a:avLst>
          </a:prstGeom>
          <a:solidFill>
            <a:schemeClr val="accent6">
              <a:hueOff val="-13200000"/>
              <a:satOff val="-31578"/>
              <a:lumOff val="7450"/>
            </a:schemeClr>
          </a:solidFill>
          <a:ln w="127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Shape 8"/>
          <p:cNvSpPr/>
          <p:nvPr/>
        </p:nvSpPr>
        <p:spPr>
          <a:xfrm>
            <a:off x="4617720" y="1600200"/>
            <a:ext cx="548641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9"/>
          <p:cNvSpPr txBox="1"/>
          <p:nvPr/>
        </p:nvSpPr>
        <p:spPr>
          <a:xfrm>
            <a:off x="4617720" y="1836349"/>
            <a:ext cx="29718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Text Preprocessing</a:t>
            </a:r>
          </a:p>
        </p:txBody>
      </p:sp>
      <p:sp>
        <p:nvSpPr>
          <p:cNvPr id="126" name="Text 10"/>
          <p:cNvSpPr txBox="1"/>
          <p:nvPr/>
        </p:nvSpPr>
        <p:spPr>
          <a:xfrm>
            <a:off x="4617720" y="2331720"/>
            <a:ext cx="2971801" cy="2787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Remove usernames and URLs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Remove punctuation and special characters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Remove stopwords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Apply stemming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Purpose: reduce unnecessary text and prepare tweets for feature extraction</a:t>
            </a:r>
          </a:p>
        </p:txBody>
      </p:sp>
      <p:sp>
        <p:nvSpPr>
          <p:cNvPr id="127" name="TF-IDF Feature Extraction card"/>
          <p:cNvSpPr/>
          <p:nvPr/>
        </p:nvSpPr>
        <p:spPr>
          <a:xfrm>
            <a:off x="8092440" y="1371600"/>
            <a:ext cx="3429001" cy="4663441"/>
          </a:xfrm>
          <a:prstGeom prst="roundRect">
            <a:avLst>
              <a:gd name="adj" fmla="val 2133"/>
            </a:avLst>
          </a:prstGeom>
          <a:solidFill>
            <a:schemeClr val="accent6">
              <a:hueOff val="-13200000"/>
              <a:satOff val="-31578"/>
              <a:lumOff val="7450"/>
            </a:schemeClr>
          </a:solidFill>
          <a:ln w="127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Shape 12"/>
          <p:cNvSpPr/>
          <p:nvPr/>
        </p:nvSpPr>
        <p:spPr>
          <a:xfrm>
            <a:off x="8321040" y="1600200"/>
            <a:ext cx="548641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13"/>
          <p:cNvSpPr txBox="1"/>
          <p:nvPr/>
        </p:nvSpPr>
        <p:spPr>
          <a:xfrm>
            <a:off x="8321040" y="1836349"/>
            <a:ext cx="29718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TF-IDF Feature Extraction</a:t>
            </a:r>
          </a:p>
        </p:txBody>
      </p:sp>
      <p:sp>
        <p:nvSpPr>
          <p:cNvPr id="130" name="Text 14"/>
          <p:cNvSpPr txBox="1"/>
          <p:nvPr/>
        </p:nvSpPr>
        <p:spPr>
          <a:xfrm>
            <a:off x="8321040" y="2331720"/>
            <a:ext cx="2971801" cy="2787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Converts text into numerical features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Fitted on training data, then used to transform test data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Training shape: 22,373 × 26,409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Testing shape: 9,589 × 26,409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Total TF-IDF features: 26,409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Module Description (2/2)</a:t>
            </a:r>
          </a:p>
        </p:txBody>
      </p:sp>
      <p:sp>
        <p:nvSpPr>
          <p:cNvPr id="133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35" name="Individual ML Models card"/>
          <p:cNvSpPr/>
          <p:nvPr/>
        </p:nvSpPr>
        <p:spPr>
          <a:xfrm>
            <a:off x="685800" y="1371600"/>
            <a:ext cx="3429000" cy="4663441"/>
          </a:xfrm>
          <a:prstGeom prst="roundRect">
            <a:avLst>
              <a:gd name="adj" fmla="val 2133"/>
            </a:avLst>
          </a:prstGeom>
          <a:solidFill>
            <a:schemeClr val="accent6">
              <a:hueOff val="-13200000"/>
              <a:satOff val="-31578"/>
              <a:lumOff val="7450"/>
            </a:schemeClr>
          </a:solidFill>
          <a:ln w="127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Shape 4"/>
          <p:cNvSpPr/>
          <p:nvPr/>
        </p:nvSpPr>
        <p:spPr>
          <a:xfrm>
            <a:off x="914400" y="1600200"/>
            <a:ext cx="548641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5"/>
          <p:cNvSpPr txBox="1"/>
          <p:nvPr/>
        </p:nvSpPr>
        <p:spPr>
          <a:xfrm>
            <a:off x="914400" y="1836349"/>
            <a:ext cx="297180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Individual ML Models</a:t>
            </a:r>
          </a:p>
        </p:txBody>
      </p:sp>
      <p:sp>
        <p:nvSpPr>
          <p:cNvPr id="138" name="Text 6"/>
          <p:cNvSpPr txBox="1"/>
          <p:nvPr/>
        </p:nvSpPr>
        <p:spPr>
          <a:xfrm>
            <a:off x="914400" y="2331720"/>
            <a:ext cx="2971800" cy="187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Logistic Regression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SVM (Linear SVM)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Naive Bayes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Random Forest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All compared on the same TF-IDF features</a:t>
            </a:r>
          </a:p>
        </p:txBody>
      </p:sp>
      <p:sp>
        <p:nvSpPr>
          <p:cNvPr id="139" name="Evaluation card"/>
          <p:cNvSpPr/>
          <p:nvPr/>
        </p:nvSpPr>
        <p:spPr>
          <a:xfrm>
            <a:off x="4389120" y="1371600"/>
            <a:ext cx="3429001" cy="4663441"/>
          </a:xfrm>
          <a:prstGeom prst="roundRect">
            <a:avLst>
              <a:gd name="adj" fmla="val 2133"/>
            </a:avLst>
          </a:prstGeom>
          <a:solidFill>
            <a:schemeClr val="accent6">
              <a:hueOff val="-13200000"/>
              <a:satOff val="-31578"/>
              <a:lumOff val="7450"/>
            </a:schemeClr>
          </a:solidFill>
          <a:ln w="127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Shape 8"/>
          <p:cNvSpPr/>
          <p:nvPr/>
        </p:nvSpPr>
        <p:spPr>
          <a:xfrm>
            <a:off x="4617720" y="1600200"/>
            <a:ext cx="548641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9"/>
          <p:cNvSpPr txBox="1"/>
          <p:nvPr/>
        </p:nvSpPr>
        <p:spPr>
          <a:xfrm>
            <a:off x="4617720" y="1836349"/>
            <a:ext cx="29718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Evaluation</a:t>
            </a:r>
          </a:p>
        </p:txBody>
      </p:sp>
      <p:sp>
        <p:nvSpPr>
          <p:cNvPr id="142" name="Text 10"/>
          <p:cNvSpPr txBox="1"/>
          <p:nvPr/>
        </p:nvSpPr>
        <p:spPr>
          <a:xfrm>
            <a:off x="4617720" y="2331720"/>
            <a:ext cx="2971801" cy="255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Models trained on 22,373 training tweets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Predict labels for unseen 9,589 test tweets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Accuracy = Correct / Total Predictions × 100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Precision = TP / (TP + FP)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Recall and F1-score also used</a:t>
            </a:r>
          </a:p>
        </p:txBody>
      </p:sp>
      <p:sp>
        <p:nvSpPr>
          <p:cNvPr id="143" name="Final Combined Models card"/>
          <p:cNvSpPr/>
          <p:nvPr/>
        </p:nvSpPr>
        <p:spPr>
          <a:xfrm>
            <a:off x="8092440" y="1371600"/>
            <a:ext cx="3429001" cy="4663441"/>
          </a:xfrm>
          <a:prstGeom prst="roundRect">
            <a:avLst>
              <a:gd name="adj" fmla="val 2133"/>
            </a:avLst>
          </a:prstGeom>
          <a:solidFill>
            <a:schemeClr val="accent6">
              <a:hueOff val="-13200000"/>
              <a:satOff val="-31578"/>
              <a:lumOff val="7450"/>
            </a:schemeClr>
          </a:solidFill>
          <a:ln w="127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12"/>
          <p:cNvSpPr/>
          <p:nvPr/>
        </p:nvSpPr>
        <p:spPr>
          <a:xfrm>
            <a:off x="8321040" y="1600200"/>
            <a:ext cx="548641" cy="4572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13"/>
          <p:cNvSpPr txBox="1"/>
          <p:nvPr/>
        </p:nvSpPr>
        <p:spPr>
          <a:xfrm>
            <a:off x="8321040" y="1836349"/>
            <a:ext cx="29718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/>
            <a:r>
              <a:t>Final Combined Models</a:t>
            </a:r>
          </a:p>
        </p:txBody>
      </p:sp>
      <p:sp>
        <p:nvSpPr>
          <p:cNvPr id="146" name="Text 14"/>
          <p:cNvSpPr txBox="1"/>
          <p:nvPr/>
        </p:nvSpPr>
        <p:spPr>
          <a:xfrm>
            <a:off x="8321040" y="2331720"/>
            <a:ext cx="2971801" cy="243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Model 1: SVM + Logistic Regression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Model 2: Naive Bayes + Logistic Regression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Purpose: use more than one classifier in the final prediction approach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600"/>
            </a:pPr>
            <a:r>
              <a:t>Both use the same TF-IDF feature representation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Module Work Flow Explanation</a:t>
            </a:r>
          </a:p>
        </p:txBody>
      </p:sp>
      <p:sp>
        <p:nvSpPr>
          <p:cNvPr id="149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51" name="Shape 3"/>
          <p:cNvSpPr/>
          <p:nvPr/>
        </p:nvSpPr>
        <p:spPr>
          <a:xfrm>
            <a:off x="777240" y="1325880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Text 4"/>
          <p:cNvSpPr txBox="1"/>
          <p:nvPr/>
        </p:nvSpPr>
        <p:spPr>
          <a:xfrm>
            <a:off x="777240" y="1443503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3" name="Text 5"/>
          <p:cNvSpPr txBox="1"/>
          <p:nvPr/>
        </p:nvSpPr>
        <p:spPr>
          <a:xfrm>
            <a:off x="1463039" y="1431011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/>
            </a:lvl1pPr>
          </a:lstStyle>
          <a:p>
            <a:pPr/>
            <a:r>
              <a:t>Load the labelled tweet dataset (31,962 tweets).</a:t>
            </a:r>
          </a:p>
        </p:txBody>
      </p:sp>
      <p:sp>
        <p:nvSpPr>
          <p:cNvPr id="154" name="Shape 6"/>
          <p:cNvSpPr/>
          <p:nvPr/>
        </p:nvSpPr>
        <p:spPr>
          <a:xfrm>
            <a:off x="777240" y="2002535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7"/>
          <p:cNvSpPr txBox="1"/>
          <p:nvPr/>
        </p:nvSpPr>
        <p:spPr>
          <a:xfrm>
            <a:off x="777240" y="2120159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6" name="Text 8"/>
          <p:cNvSpPr txBox="1"/>
          <p:nvPr/>
        </p:nvSpPr>
        <p:spPr>
          <a:xfrm>
            <a:off x="1463039" y="2107667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/>
            </a:lvl1pPr>
          </a:lstStyle>
          <a:p>
            <a:pPr/>
            <a:r>
              <a:t>Clean tweets: remove usernames, URLs, punctuation, stopwords; apply stemming.</a:t>
            </a:r>
          </a:p>
        </p:txBody>
      </p:sp>
      <p:sp>
        <p:nvSpPr>
          <p:cNvPr id="157" name="Shape 9"/>
          <p:cNvSpPr/>
          <p:nvPr/>
        </p:nvSpPr>
        <p:spPr>
          <a:xfrm>
            <a:off x="777240" y="2679192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0"/>
          <p:cNvSpPr txBox="1"/>
          <p:nvPr/>
        </p:nvSpPr>
        <p:spPr>
          <a:xfrm>
            <a:off x="777240" y="2796815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9" name="Text 11"/>
          <p:cNvSpPr txBox="1"/>
          <p:nvPr/>
        </p:nvSpPr>
        <p:spPr>
          <a:xfrm>
            <a:off x="1463039" y="2784323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/>
            </a:lvl1pPr>
          </a:lstStyle>
          <a:p>
            <a:pPr/>
            <a:r>
              <a:t>Split data: 70% training (22,373) and 30% testing (9,589).</a:t>
            </a:r>
          </a:p>
        </p:txBody>
      </p:sp>
      <p:sp>
        <p:nvSpPr>
          <p:cNvPr id="160" name="Shape 12"/>
          <p:cNvSpPr/>
          <p:nvPr/>
        </p:nvSpPr>
        <p:spPr>
          <a:xfrm>
            <a:off x="777240" y="3355847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13"/>
          <p:cNvSpPr txBox="1"/>
          <p:nvPr/>
        </p:nvSpPr>
        <p:spPr>
          <a:xfrm>
            <a:off x="777240" y="3473471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2" name="Text 14"/>
          <p:cNvSpPr txBox="1"/>
          <p:nvPr/>
        </p:nvSpPr>
        <p:spPr>
          <a:xfrm>
            <a:off x="1463039" y="3460979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/>
            </a:lvl1pPr>
          </a:lstStyle>
          <a:p>
            <a:pPr/>
            <a:r>
              <a:t>Fit TF-IDF on training data and transform test data (26,409 features).</a:t>
            </a:r>
          </a:p>
        </p:txBody>
      </p:sp>
      <p:sp>
        <p:nvSpPr>
          <p:cNvPr id="163" name="Shape 15"/>
          <p:cNvSpPr/>
          <p:nvPr/>
        </p:nvSpPr>
        <p:spPr>
          <a:xfrm>
            <a:off x="777240" y="4032503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16"/>
          <p:cNvSpPr txBox="1"/>
          <p:nvPr/>
        </p:nvSpPr>
        <p:spPr>
          <a:xfrm>
            <a:off x="777240" y="4150127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5" name="Text 17"/>
          <p:cNvSpPr txBox="1"/>
          <p:nvPr/>
        </p:nvSpPr>
        <p:spPr>
          <a:xfrm>
            <a:off x="1463039" y="4137635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/>
            </a:lvl1pPr>
          </a:lstStyle>
          <a:p>
            <a:pPr/>
            <a:r>
              <a:t>Train SVM, Logistic Regression, Naive Bayes and Random Forest on training tweets.</a:t>
            </a:r>
          </a:p>
        </p:txBody>
      </p:sp>
      <p:sp>
        <p:nvSpPr>
          <p:cNvPr id="166" name="Shape 18"/>
          <p:cNvSpPr/>
          <p:nvPr/>
        </p:nvSpPr>
        <p:spPr>
          <a:xfrm>
            <a:off x="777240" y="4709159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19"/>
          <p:cNvSpPr txBox="1"/>
          <p:nvPr/>
        </p:nvSpPr>
        <p:spPr>
          <a:xfrm>
            <a:off x="777240" y="4826783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68" name="Text 20"/>
          <p:cNvSpPr txBox="1"/>
          <p:nvPr/>
        </p:nvSpPr>
        <p:spPr>
          <a:xfrm>
            <a:off x="1463039" y="4814291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/>
            </a:lvl1pPr>
          </a:lstStyle>
          <a:p>
            <a:pPr/>
            <a:r>
              <a:t>Predict labels for unseen test tweets and evaluate (accuracy, precision, recall, F1).</a:t>
            </a:r>
          </a:p>
        </p:txBody>
      </p:sp>
      <p:sp>
        <p:nvSpPr>
          <p:cNvPr id="169" name="Shape 21"/>
          <p:cNvSpPr/>
          <p:nvPr/>
        </p:nvSpPr>
        <p:spPr>
          <a:xfrm>
            <a:off x="777240" y="5385815"/>
            <a:ext cx="457201" cy="45720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22"/>
          <p:cNvSpPr txBox="1"/>
          <p:nvPr/>
        </p:nvSpPr>
        <p:spPr>
          <a:xfrm>
            <a:off x="777240" y="5503439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71" name="Text 23"/>
          <p:cNvSpPr txBox="1"/>
          <p:nvPr/>
        </p:nvSpPr>
        <p:spPr>
          <a:xfrm>
            <a:off x="1463039" y="5490947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/>
            </a:lvl1pPr>
          </a:lstStyle>
          <a:p>
            <a:pPr/>
            <a:r>
              <a:t>Combine predictions (SVM + LR, NB + LR) and compare technically.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Implementation and Coding (1/3)</a:t>
            </a:r>
          </a:p>
        </p:txBody>
      </p:sp>
      <p:sp>
        <p:nvSpPr>
          <p:cNvPr id="174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76" name="Text 3"/>
          <p:cNvSpPr txBox="1"/>
          <p:nvPr/>
        </p:nvSpPr>
        <p:spPr>
          <a:xfrm>
            <a:off x="685800" y="1341488"/>
            <a:ext cx="54864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chemeClr val="accent2"/>
                </a:solidFill>
              </a:defRPr>
            </a:lvl1pPr>
          </a:lstStyle>
          <a:p>
            <a:pPr/>
            <a:r>
              <a:t>Text preprocessing</a:t>
            </a:r>
          </a:p>
        </p:txBody>
      </p:sp>
      <p:sp>
        <p:nvSpPr>
          <p:cNvPr id="177" name="Text preprocessing code"/>
          <p:cNvSpPr/>
          <p:nvPr/>
        </p:nvSpPr>
        <p:spPr>
          <a:xfrm>
            <a:off x="685800" y="164592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2B2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5"/>
          <p:cNvSpPr txBox="1"/>
          <p:nvPr/>
        </p:nvSpPr>
        <p:spPr>
          <a:xfrm>
            <a:off x="822960" y="1737360"/>
            <a:ext cx="5212080" cy="153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clean_text(text):</a:t>
            </a:r>
          </a:p>
          <a:p>
            <a: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text = str(text).lower()</a:t>
            </a:r>
          </a:p>
          <a:p>
            <a: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text = re.sub(r'@\w+', '', text)</a:t>
            </a:r>
          </a:p>
          <a:p>
            <a: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text = re.sub(r'http\S+|www\S+', '', text)</a:t>
            </a:r>
          </a:p>
          <a:p>
            <a: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text = re.sub(r'[^a-zA-Z\s]', '', text)</a:t>
            </a:r>
          </a:p>
          <a:p>
            <a: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text = re.sub(r'\s+', ' ', text).strip()</a:t>
            </a:r>
          </a:p>
          <a:p>
            <a: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words = text.split()</a:t>
            </a:r>
          </a:p>
          <a:p>
            <a: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words = [stemmer.stem(w) for w in words</a:t>
            </a:r>
          </a:p>
          <a:p>
            <a: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if w not in stop_words]</a:t>
            </a:r>
          </a:p>
          <a:p>
            <a: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' '.join(words)</a:t>
            </a:r>
          </a:p>
          <a:p>
            <a:pPr>
              <a:defRPr sz="10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df['clean_tweet'] = df['tweet'].apply(clean_text)</a:t>
            </a:r>
          </a:p>
        </p:txBody>
      </p:sp>
      <p:sp>
        <p:nvSpPr>
          <p:cNvPr id="179" name="Text 6"/>
          <p:cNvSpPr txBox="1"/>
          <p:nvPr/>
        </p:nvSpPr>
        <p:spPr>
          <a:xfrm>
            <a:off x="6355079" y="1341488"/>
            <a:ext cx="51663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chemeClr val="accent2"/>
                </a:solidFill>
              </a:defRPr>
            </a:lvl1pPr>
          </a:lstStyle>
          <a:p>
            <a:pPr/>
            <a:r>
              <a:t>Train/test split and TF-IDF</a:t>
            </a:r>
          </a:p>
        </p:txBody>
      </p:sp>
      <p:pic>
        <p:nvPicPr>
          <p:cNvPr id="180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" y="3533313"/>
            <a:ext cx="5471163" cy="25474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39842" y="1600200"/>
            <a:ext cx="5166360" cy="28916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Implementation and Coding (2/3)</a:t>
            </a:r>
          </a:p>
        </p:txBody>
      </p:sp>
      <p:sp>
        <p:nvSpPr>
          <p:cNvPr id="184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86" name="Text 3"/>
          <p:cNvSpPr txBox="1"/>
          <p:nvPr/>
        </p:nvSpPr>
        <p:spPr>
          <a:xfrm>
            <a:off x="685799" y="1341488"/>
            <a:ext cx="576072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chemeClr val="accent2"/>
                </a:solidFill>
              </a:defRPr>
            </a:lvl1pPr>
          </a:lstStyle>
          <a:p>
            <a:pPr/>
            <a:r>
              <a:t>Model training and prediction</a:t>
            </a:r>
          </a:p>
        </p:txBody>
      </p:sp>
      <p:sp>
        <p:nvSpPr>
          <p:cNvPr id="187" name="Model training and prediction code"/>
          <p:cNvSpPr/>
          <p:nvPr/>
        </p:nvSpPr>
        <p:spPr>
          <a:xfrm>
            <a:off x="685800" y="1645920"/>
            <a:ext cx="5760721" cy="4480560"/>
          </a:xfrm>
          <a:prstGeom prst="roundRect">
            <a:avLst>
              <a:gd name="adj" fmla="val 1224"/>
            </a:avLst>
          </a:prstGeom>
          <a:solidFill>
            <a:srgbClr val="2B2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5"/>
          <p:cNvSpPr txBox="1"/>
          <p:nvPr/>
        </p:nvSpPr>
        <p:spPr>
          <a:xfrm>
            <a:off x="822960" y="1737360"/>
            <a:ext cx="5486401" cy="304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lr  = LogisticRegression(max_iter=1000)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svm = LinearSVC()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nb  = MultinomialNB()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rf  = RandomForestClassifier(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n_estimators=100,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random_state=42, n_jobs=-1)</a:t>
            </a:r>
          </a:p>
          <a:p>
            <a:pPr>
              <a:defRPr sz="1300"/>
            </a:pP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lr.fit(X_train_tfidf, y_train)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svm.fit(X_train_tfidf, y_train)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nb.fit(X_train_tfidf, y_train)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rf.fit(X_train_tfidf, y_train)</a:t>
            </a:r>
          </a:p>
          <a:p>
            <a:pPr>
              <a:defRPr sz="1300"/>
            </a:pP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lr_pred  = lr.predict(X_test_tfidf)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svm_pred = svm.predict(X_test_tfidf)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nb_pred  = nb.predict(X_test_tfidf)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rf_pred  = rf.predict(X_test_tfidf)</a:t>
            </a:r>
          </a:p>
        </p:txBody>
      </p:sp>
      <p:sp>
        <p:nvSpPr>
          <p:cNvPr id="189" name="Text 6"/>
          <p:cNvSpPr txBox="1"/>
          <p:nvPr/>
        </p:nvSpPr>
        <p:spPr>
          <a:xfrm>
            <a:off x="6629400" y="1341488"/>
            <a:ext cx="489204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chemeClr val="accent2"/>
                </a:solidFill>
              </a:defRPr>
            </a:lvl1pPr>
          </a:lstStyle>
          <a:p>
            <a:pPr/>
            <a:r>
              <a:t>Evaluation (for each model)</a:t>
            </a:r>
          </a:p>
        </p:txBody>
      </p:sp>
      <p:sp>
        <p:nvSpPr>
          <p:cNvPr id="190" name="Evaluation (for each model) code"/>
          <p:cNvSpPr/>
          <p:nvPr/>
        </p:nvSpPr>
        <p:spPr>
          <a:xfrm>
            <a:off x="6629400" y="1645920"/>
            <a:ext cx="4892041" cy="4480560"/>
          </a:xfrm>
          <a:prstGeom prst="roundRect">
            <a:avLst>
              <a:gd name="adj" fmla="val 1224"/>
            </a:avLst>
          </a:prstGeom>
          <a:solidFill>
            <a:srgbClr val="2B2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8"/>
          <p:cNvSpPr txBox="1"/>
          <p:nvPr/>
        </p:nvSpPr>
        <p:spPr>
          <a:xfrm>
            <a:off x="6766559" y="1737360"/>
            <a:ext cx="461772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accuracy_score(y_test, lr_pred)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precision_score(y_test, lr_pred)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recall_score(y_test, lr_pred)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f1_score(y_test, lr_pred)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confusion_matrix(y_test, lr_pred)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Implementation and Coding (3/3)</a:t>
            </a:r>
          </a:p>
        </p:txBody>
      </p:sp>
      <p:sp>
        <p:nvSpPr>
          <p:cNvPr id="194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196" name="Text 3"/>
          <p:cNvSpPr txBox="1"/>
          <p:nvPr/>
        </p:nvSpPr>
        <p:spPr>
          <a:xfrm>
            <a:off x="685800" y="1341488"/>
            <a:ext cx="54864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chemeClr val="accent2"/>
                </a:solidFill>
              </a:defRPr>
            </a:lvl1pPr>
          </a:lstStyle>
          <a:p>
            <a:pPr/>
            <a:r>
              <a:t>Combined models</a:t>
            </a:r>
          </a:p>
        </p:txBody>
      </p:sp>
      <p:sp>
        <p:nvSpPr>
          <p:cNvPr id="197" name="Combined models code"/>
          <p:cNvSpPr/>
          <p:nvPr/>
        </p:nvSpPr>
        <p:spPr>
          <a:xfrm>
            <a:off x="685800" y="164592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2B2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5"/>
          <p:cNvSpPr txBox="1"/>
          <p:nvPr/>
        </p:nvSpPr>
        <p:spPr>
          <a:xfrm>
            <a:off x="822960" y="1737360"/>
            <a:ext cx="5212080" cy="285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SVM + Logistic Regression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svm_lr_pred = []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s, l in zip(svm_pred, lr_pred):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s == l: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svm_lr_pred.append(s)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else: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svm_lr_pred.append(l)  # use LR</a:t>
            </a:r>
          </a:p>
          <a:p>
            <a:pPr>
              <a:defRPr sz="1300"/>
            </a:pP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Naive Bayes + Logistic Regression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nb_lr_pred = []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n, l in zip(nb_pred, lr_pred):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n == l: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nb_lr_pred.append(n)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else: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nb_lr_pred.append(l)   # use LR</a:t>
            </a:r>
          </a:p>
        </p:txBody>
      </p:sp>
      <p:sp>
        <p:nvSpPr>
          <p:cNvPr id="199" name="Text 6"/>
          <p:cNvSpPr txBox="1"/>
          <p:nvPr/>
        </p:nvSpPr>
        <p:spPr>
          <a:xfrm>
            <a:off x="6355079" y="1341488"/>
            <a:ext cx="516636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chemeClr val="accent2"/>
                </a:solidFill>
              </a:defRPr>
            </a:lvl1pPr>
          </a:lstStyle>
          <a:p>
            <a:pPr/>
            <a:r>
              <a:t>New text prediction</a:t>
            </a:r>
          </a:p>
        </p:txBody>
      </p:sp>
      <p:sp>
        <p:nvSpPr>
          <p:cNvPr id="200" name="New text prediction code"/>
          <p:cNvSpPr/>
          <p:nvPr/>
        </p:nvSpPr>
        <p:spPr>
          <a:xfrm>
            <a:off x="6355079" y="1645920"/>
            <a:ext cx="5166361" cy="4480560"/>
          </a:xfrm>
          <a:prstGeom prst="roundRect">
            <a:avLst>
              <a:gd name="adj" fmla="val 1224"/>
            </a:avLst>
          </a:prstGeom>
          <a:solidFill>
            <a:srgbClr val="2B2F3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8"/>
          <p:cNvSpPr txBox="1"/>
          <p:nvPr/>
        </p:nvSpPr>
        <p:spPr>
          <a:xfrm>
            <a:off x="6492240" y="1737360"/>
            <a:ext cx="4892041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predict_svm(text):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cleaned = clean_text(text)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vector = tfidf.transform([cleaned])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prediction = svm.predict(vector)[0]</a:t>
            </a:r>
          </a:p>
          <a:p>
            <a:pPr>
              <a:defRPr sz="1300"/>
            </a:pP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prediction == 1: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 "Hatred / Toxic"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else: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 "Non-Hatred"</a:t>
            </a:r>
          </a:p>
          <a:p>
            <a:pPr>
              <a:defRPr sz="1300"/>
            </a:pP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predict_logistic() is the same, using lr</a:t>
            </a:r>
          </a:p>
          <a:p>
            <a:pPr>
              <a:defRPr sz="13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print(predict_svm("I hate you"))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Demo Video</a:t>
            </a:r>
          </a:p>
        </p:txBody>
      </p:sp>
      <p:sp>
        <p:nvSpPr>
          <p:cNvPr id="204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16</a:t>
            </a:r>
          </a:p>
        </p:txBody>
      </p:sp>
      <p:pic>
        <p:nvPicPr>
          <p:cNvPr id="206" name="WhatsApp Video 2026-10-07 at 7.56.03 PM" descr="WhatsApp Video 2026-10-07 at 7.56.03 PM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617490" y="1143000"/>
            <a:ext cx="8516045" cy="45855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200" fill="hold"/>
                                        <p:tgtEl>
                                          <p:spTgt spid="2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mediacall" nodeType="clickEffect" presetSubtype="0" presetID="3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0" dur="1000" fill="hold"/>
                                        <p:tgtEl>
                                          <p:spTgt spid="2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80000">
                <p:cTn id="11" fill="hold" display="0">
                  <p:stCondLst>
                    <p:cond delay="indefinite"/>
                  </p:stCondLst>
                </p:cTn>
                <p:tgtEl>
                  <p:spTgt spid="206"/>
                </p:tgtEl>
              </p:cMediaNode>
            </p:video>
            <p:seq concurrent="1" prevAc="none" nextAc="seek">
              <p:cTn id="12" evtFilter="cancelBubble" nodeType="interactiveSeq" restart="whenNotActive" fill="hold">
                <p:stCondLst>
                  <p:cond delay="0" evt="onClick">
                    <p:tgtEl>
                      <p:spTgt spid="206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06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2"/>
          <p:cNvSpPr txBox="1"/>
          <p:nvPr>
            <p:ph type="title"/>
          </p:nvPr>
        </p:nvSpPr>
        <p:spPr>
          <a:xfrm>
            <a:off x="159753" y="152174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Snapshots of the Project</a:t>
            </a:r>
          </a:p>
        </p:txBody>
      </p:sp>
      <p:sp>
        <p:nvSpPr>
          <p:cNvPr id="209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17</a:t>
            </a:r>
          </a:p>
        </p:txBody>
      </p:sp>
      <p:pic>
        <p:nvPicPr>
          <p:cNvPr id="211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753" y="976467"/>
            <a:ext cx="5477568" cy="487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96000" y="976467"/>
            <a:ext cx="5821959" cy="49050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itle 1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/>
          <a:lstStyle/>
          <a:p>
            <a:pPr/>
            <a:r>
              <a:t>Snapshots of the Project</a:t>
            </a:r>
          </a:p>
        </p:txBody>
      </p:sp>
      <p:pic>
        <p:nvPicPr>
          <p:cNvPr id="21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" y="1358283"/>
            <a:ext cx="8295845" cy="48602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Testing</a:t>
            </a:r>
          </a:p>
        </p:txBody>
      </p:sp>
      <p:sp>
        <p:nvSpPr>
          <p:cNvPr id="218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220" name="Text 3"/>
          <p:cNvSpPr txBox="1"/>
          <p:nvPr/>
        </p:nvSpPr>
        <p:spPr>
          <a:xfrm>
            <a:off x="685799" y="1389724"/>
            <a:ext cx="530352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chemeClr val="accent2"/>
                </a:solidFill>
              </a:defRPr>
            </a:lvl1pPr>
          </a:lstStyle>
          <a:p>
            <a:pPr/>
            <a:r>
              <a:t>How evaluation works</a:t>
            </a:r>
          </a:p>
        </p:txBody>
      </p:sp>
      <p:sp>
        <p:nvSpPr>
          <p:cNvPr id="221" name="Text 4"/>
          <p:cNvSpPr txBox="1"/>
          <p:nvPr/>
        </p:nvSpPr>
        <p:spPr>
          <a:xfrm>
            <a:off x="685799" y="1874520"/>
            <a:ext cx="5303522" cy="1262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1700"/>
            </a:pPr>
            <a:r>
              <a:t>Models trained using the 22,373 training tweets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700"/>
            </a:pPr>
            <a:r>
              <a:t>Predict labels for the unseen 9,589 test tweets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700"/>
            </a:pPr>
            <a:r>
              <a:t>Accuracy = Correct Predictions / Total Predictions × 100</a:t>
            </a:r>
          </a:p>
        </p:txBody>
      </p:sp>
      <p:sp>
        <p:nvSpPr>
          <p:cNvPr id="222" name="TextBox 11"/>
          <p:cNvSpPr txBox="1"/>
          <p:nvPr/>
        </p:nvSpPr>
        <p:spPr>
          <a:xfrm>
            <a:off x="647921" y="3304816"/>
            <a:ext cx="6003081" cy="973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1700"/>
            </a:pPr>
            <a:r>
              <a:t>Precision = TP / (TP + FP)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1700"/>
            </a:pPr>
            <a:r>
              <a:t>Recall and F1-score also used to understand classification performance</a:t>
            </a:r>
          </a:p>
        </p:txBody>
      </p:sp>
      <p:pic>
        <p:nvPicPr>
          <p:cNvPr id="223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96722" y="1143000"/>
            <a:ext cx="4657261" cy="35074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Result and Discussion: Individual Models</a:t>
            </a:r>
          </a:p>
        </p:txBody>
      </p:sp>
      <p:sp>
        <p:nvSpPr>
          <p:cNvPr id="226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19</a:t>
            </a:r>
          </a:p>
        </p:txBody>
      </p:sp>
      <p:graphicFrame>
        <p:nvGraphicFramePr>
          <p:cNvPr id="228" name="Table 0"/>
          <p:cNvGraphicFramePr/>
          <p:nvPr/>
        </p:nvGraphicFramePr>
        <p:xfrm>
          <a:off x="685800" y="1371600"/>
          <a:ext cx="5410202" cy="232151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754659"/>
                <a:gridCol w="877330"/>
                <a:gridCol w="950441"/>
                <a:gridCol w="877330"/>
                <a:gridCol w="950441"/>
              </a:tblGrid>
              <a:tr h="464302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6">
                              <a:hueOff val="-13200000"/>
                              <a:satOff val="-31578"/>
                              <a:lumOff val="7450"/>
                            </a:schemeClr>
                          </a:solidFill>
                        </a:rPr>
                        <a:t>Model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6">
                              <a:hueOff val="-13200000"/>
                              <a:satOff val="-31578"/>
                              <a:lumOff val="7450"/>
                            </a:schemeClr>
                          </a:solidFill>
                        </a:rPr>
                        <a:t>Accuracy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6">
                              <a:hueOff val="-13200000"/>
                              <a:satOff val="-31578"/>
                              <a:lumOff val="7450"/>
                            </a:schemeClr>
                          </a:solidFill>
                        </a:rPr>
                        <a:t>Precision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6">
                              <a:hueOff val="-13200000"/>
                              <a:satOff val="-31578"/>
                              <a:lumOff val="7450"/>
                            </a:schemeClr>
                          </a:solidFill>
                        </a:rPr>
                        <a:t>Recall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6">
                              <a:hueOff val="-13200000"/>
                              <a:satOff val="-31578"/>
                              <a:lumOff val="7450"/>
                            </a:schemeClr>
                          </a:solidFill>
                        </a:rPr>
                        <a:t>F1 Score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</a:tr>
              <a:tr h="46430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Logistic Regression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94.78%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90.95%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28.38%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43.26%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</a:tr>
              <a:tr h="46430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Linear SVM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96.36%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86.99%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56.61%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68.59%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</a:tr>
              <a:tr h="46430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Balanced Linear SVM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94.91%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62.19%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70.13%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65.92%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</a:tr>
              <a:tr h="464302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Naive Bayes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93.98%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—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—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—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9" name="Text 3"/>
          <p:cNvSpPr txBox="1"/>
          <p:nvPr/>
        </p:nvSpPr>
        <p:spPr>
          <a:xfrm>
            <a:off x="765699" y="4474519"/>
            <a:ext cx="6766560" cy="792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/>
            </a:pPr>
            <a:r>
              <a:t>Research paper accuracy</a:t>
            </a:r>
          </a:p>
          <a:p>
            <a:pPr/>
            <a:r>
              <a:t>SVM: 94.9%</a:t>
            </a:r>
          </a:p>
          <a:p>
            <a:pPr/>
            <a:r>
              <a:t>Logistic Regression: 95%</a:t>
            </a:r>
          </a:p>
        </p:txBody>
      </p:sp>
      <p:pic>
        <p:nvPicPr>
          <p:cNvPr id="230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20237" y="1371600"/>
            <a:ext cx="5338363" cy="39691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Result and Discussion: Technical Comparison</a:t>
            </a:r>
          </a:p>
        </p:txBody>
      </p:sp>
      <p:sp>
        <p:nvSpPr>
          <p:cNvPr id="233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20</a:t>
            </a:r>
          </a:p>
        </p:txBody>
      </p:sp>
      <p:graphicFrame>
        <p:nvGraphicFramePr>
          <p:cNvPr id="235" name="Table 0"/>
          <p:cNvGraphicFramePr/>
          <p:nvPr/>
        </p:nvGraphicFramePr>
        <p:xfrm>
          <a:off x="1371600" y="1325880"/>
          <a:ext cx="9418320" cy="438912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66159"/>
                <a:gridCol w="2011679"/>
                <a:gridCol w="2011679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6">
                              <a:hueOff val="-13200000"/>
                              <a:satOff val="-31578"/>
                              <a:lumOff val="7450"/>
                            </a:schemeClr>
                          </a:solidFill>
                        </a:rPr>
                        <a:t>Parameters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6">
                              <a:hueOff val="-13200000"/>
                              <a:satOff val="-31578"/>
                              <a:lumOff val="7450"/>
                            </a:schemeClr>
                          </a:solidFill>
                        </a:rPr>
                        <a:t>SVM + LR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6">
                              <a:hueOff val="-13200000"/>
                              <a:satOff val="-31578"/>
                              <a:lumOff val="7450"/>
                            </a:schemeClr>
                          </a:solidFill>
                        </a:rPr>
                        <a:t>NB + LR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chemeClr val="accent6">
                              <a:hueOff val="-13200000"/>
                              <a:satOff val="-31578"/>
                              <a:lumOff val="7450"/>
                            </a:schemeClr>
                          </a:solidFill>
                        </a:rPr>
                        <a:t>Result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Prediction Time (sec)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0.0029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0.0087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SVM + LR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TF-IDF Features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26,409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26,409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Same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Learned Parameters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52,818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79,227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SVM + LR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Model Size (MB)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0.40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1.01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SVM + LR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TF-IDF Sparsity (%)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99.97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99.97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Same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Non-Zero Learned Values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42,507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79,227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SVM + LR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chemeClr val="accent6">
                        <a:hueOff val="-13200000"/>
                        <a:satOff val="-31578"/>
                        <a:lumOff val="745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Training Time (sec)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0.903571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>
                          <a:solidFill>
                            <a:srgbClr val="2B2F3A"/>
                          </a:solidFill>
                        </a:rPr>
                        <a:t>0.755459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2B2F3A"/>
                          </a:solidFill>
                        </a:rPr>
                        <a:t>NB + LR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chemeClr val="accent4"/>
                      </a:solidFill>
                    </a:lnL>
                    <a:lnR w="12700">
                      <a:solidFill>
                        <a:schemeClr val="accent4"/>
                      </a:solidFill>
                    </a:lnR>
                    <a:lnT w="12700">
                      <a:solidFill>
                        <a:schemeClr val="accent4"/>
                      </a:solidFill>
                    </a:lnT>
                    <a:lnB w="12700">
                      <a:solidFill>
                        <a:schemeClr val="accent4"/>
                      </a:solidFill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Result and Discussion: Input and Output</a:t>
            </a:r>
          </a:p>
        </p:txBody>
      </p:sp>
      <p:sp>
        <p:nvSpPr>
          <p:cNvPr id="238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240" name="Text 3"/>
          <p:cNvSpPr txBox="1"/>
          <p:nvPr/>
        </p:nvSpPr>
        <p:spPr>
          <a:xfrm>
            <a:off x="441751" y="1092211"/>
            <a:ext cx="530352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chemeClr val="accent2"/>
                </a:solidFill>
              </a:defRPr>
            </a:lvl1pPr>
          </a:lstStyle>
          <a:p>
            <a:pPr/>
            <a:r>
              <a:t>Input</a:t>
            </a:r>
          </a:p>
        </p:txBody>
      </p:sp>
      <p:sp>
        <p:nvSpPr>
          <p:cNvPr id="241" name="Text 6"/>
          <p:cNvSpPr txBox="1"/>
          <p:nvPr/>
        </p:nvSpPr>
        <p:spPr>
          <a:xfrm>
            <a:off x="230058" y="5111836"/>
            <a:ext cx="5303522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chemeClr val="accent2"/>
                </a:solidFill>
              </a:defRPr>
            </a:lvl1pPr>
          </a:lstStyle>
          <a:p>
            <a:pPr/>
            <a:r>
              <a:t>Output</a:t>
            </a:r>
          </a:p>
        </p:txBody>
      </p:sp>
      <p:pic>
        <p:nvPicPr>
          <p:cNvPr id="242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5800" y="1439846"/>
            <a:ext cx="5638594" cy="35893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Picture 13" descr="Picture 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22159" y="5221371"/>
            <a:ext cx="5102236" cy="100383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68441" y="1389186"/>
            <a:ext cx="4723031" cy="36906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Picture 17" descr="Picture 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568441" y="5253730"/>
            <a:ext cx="4723031" cy="9334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2"/>
          <p:cNvSpPr txBox="1"/>
          <p:nvPr>
            <p:ph type="title"/>
          </p:nvPr>
        </p:nvSpPr>
        <p:spPr>
          <a:xfrm>
            <a:off x="685799" y="320039"/>
            <a:ext cx="9875522" cy="822962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Conclusion</a:t>
            </a:r>
          </a:p>
        </p:txBody>
      </p:sp>
      <p:sp>
        <p:nvSpPr>
          <p:cNvPr id="248" name="Slide badge"/>
          <p:cNvSpPr/>
          <p:nvPr/>
        </p:nvSpPr>
        <p:spPr>
          <a:xfrm>
            <a:off x="10972800" y="365759"/>
            <a:ext cx="685800" cy="411482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2"/>
          <p:cNvSpPr txBox="1"/>
          <p:nvPr/>
        </p:nvSpPr>
        <p:spPr>
          <a:xfrm>
            <a:off x="10972800" y="485092"/>
            <a:ext cx="685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chemeClr val="accent6">
                    <a:hueOff val="-13200000"/>
                    <a:satOff val="-31578"/>
                    <a:lumOff val="7450"/>
                  </a:schemeClr>
                </a:solidFill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250" name="Text 3"/>
          <p:cNvSpPr txBox="1"/>
          <p:nvPr/>
        </p:nvSpPr>
        <p:spPr>
          <a:xfrm>
            <a:off x="685799" y="1371600"/>
            <a:ext cx="10835642" cy="254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000"/>
              </a:spcBef>
              <a:buSzPct val="100000"/>
              <a:buChar char="•"/>
              <a:defRPr sz="2000"/>
            </a:pPr>
            <a:r>
              <a:t>A complete text-classification pipeline was developed: preprocessing → TF-IDF → ML models → evaluation → model combination.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2000"/>
            </a:pPr>
            <a:r>
              <a:t>SVM and Logistic Regression were combined as one final model.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2000"/>
            </a:pPr>
            <a:r>
              <a:t>Naive Bayes and Logistic Regression were combined as the second final model.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2000"/>
            </a:pPr>
            <a:r>
              <a:t>The final comparison shows that each combined model has different technical strengths.</a:t>
            </a:r>
          </a:p>
          <a:p>
            <a:pPr marL="342900" indent="-342900">
              <a:spcBef>
                <a:spcPts val="1000"/>
              </a:spcBef>
              <a:buSzPct val="100000"/>
              <a:buChar char="•"/>
              <a:defRPr sz="2000"/>
            </a:pPr>
            <a:r>
              <a:t>The project demonstrates how machine learning can be applied to toxic/hateful text detection.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Review">
  <a:themeElements>
    <a:clrScheme name="Review">
      <a:dk1>
        <a:srgbClr val="2B2F3A"/>
      </a:dk1>
      <a:lt1>
        <a:srgbClr val="F7F8FD"/>
      </a:lt1>
      <a:dk2>
        <a:srgbClr val="A7A7A7"/>
      </a:dk2>
      <a:lt2>
        <a:srgbClr val="535353"/>
      </a:lt2>
      <a:accent1>
        <a:srgbClr val="3A7D82"/>
      </a:accent1>
      <a:accent2>
        <a:srgbClr val="1F3559"/>
      </a:accent2>
      <a:accent3>
        <a:srgbClr val="8FB8BB"/>
      </a:accent3>
      <a:accent4>
        <a:srgbClr val="D8DEE9"/>
      </a:accent4>
      <a:accent5>
        <a:srgbClr val="9AA7B8"/>
      </a:accent5>
      <a:accent6>
        <a:srgbClr val="E6EAF2"/>
      </a:accent6>
      <a:hlink>
        <a:srgbClr val="0000FF"/>
      </a:hlink>
      <a:folHlink>
        <a:srgbClr val="FF00FF"/>
      </a:folHlink>
    </a:clrScheme>
    <a:fontScheme name="Review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hueOff val="-13200000"/>
            <a:satOff val="-31578"/>
            <a:lumOff val="7450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B2F3A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B2F3A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Review">
  <a:themeElements>
    <a:clrScheme name="Review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A7D82"/>
      </a:accent1>
      <a:accent2>
        <a:srgbClr val="1F3559"/>
      </a:accent2>
      <a:accent3>
        <a:srgbClr val="8FB8BB"/>
      </a:accent3>
      <a:accent4>
        <a:srgbClr val="D8DEE9"/>
      </a:accent4>
      <a:accent5>
        <a:srgbClr val="9AA7B8"/>
      </a:accent5>
      <a:accent6>
        <a:srgbClr val="E6EAF2"/>
      </a:accent6>
      <a:hlink>
        <a:srgbClr val="0000FF"/>
      </a:hlink>
      <a:folHlink>
        <a:srgbClr val="FF00FF"/>
      </a:folHlink>
    </a:clrScheme>
    <a:fontScheme name="Review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hueOff val="-13200000"/>
            <a:satOff val="-31578"/>
            <a:lumOff val="7450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B2F3A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B2F3A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